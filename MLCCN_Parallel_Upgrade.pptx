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MLCCN_Install  —  Sequential → Parallel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A9BBF"/>
                </a:solidFill>
                <a:latin typeface="Calibri"/>
              </a:rPr>
              <a:t>4 Key Changes in MLCCN_Install_R12.4.1.26.pl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896112"/>
            <a:ext cx="8412480" cy="0"/>
          </a:xfrm>
          <a:prstGeom prst="line">
            <a:avLst/>
          </a:prstGeom>
          <a:ln w="952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005840"/>
            <a:ext cx="4133087" cy="1783080"/>
          </a:xfrm>
          <a:prstGeom prst="rect">
            <a:avLst/>
          </a:prstGeom>
          <a:solidFill>
            <a:srgbClr val="1E3158"/>
          </a:solidFill>
          <a:ln w="19050">
            <a:solidFill>
              <a:srgbClr val="E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64008" cy="178308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069848"/>
            <a:ext cx="4023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555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088136"/>
            <a:ext cx="349300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Timeout Detection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463040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E05555"/>
                </a:solidFill>
                <a:latin typeface="Consolas"/>
              </a:rPr>
              <a:t>Before  </a:t>
            </a:r>
            <a:r>
              <a:rPr sz="950" b="0">
                <a:solidFill>
                  <a:srgbClr val="C8D8F0"/>
                </a:solidFill>
                <a:latin typeface="Consolas"/>
              </a:rPr>
              <a:t>/^timedout/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1709928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2ECC71"/>
                </a:solidFill>
                <a:latin typeface="Consolas"/>
              </a:rPr>
              <a:t>After   </a:t>
            </a:r>
            <a:r>
              <a:rPr sz="950" b="0">
                <a:solidFill>
                  <a:srgbClr val="C8D8F0"/>
                </a:solidFill>
                <a:latin typeface="Consolas"/>
              </a:rPr>
              <a:t>/^timed?out/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" y="1993392"/>
            <a:ext cx="3877056" cy="0"/>
          </a:xfrm>
          <a:prstGeom prst="line">
            <a:avLst/>
          </a:prstGeom>
          <a:ln w="6350">
            <a:solidFill>
              <a:srgbClr val="1A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" y="2039112"/>
            <a:ext cx="391363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A9BBF"/>
                </a:solidFill>
                <a:latin typeface="Calibri"/>
              </a:rPr>
              <a:t>query_mlc.py emits 'timedout' (one token). The original regex never matched, so SSH timeouts were silently reported as success. The optional 'd?' fixes the match.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0872" y="1005840"/>
            <a:ext cx="4133087" cy="1783080"/>
          </a:xfrm>
          <a:prstGeom prst="rect">
            <a:avLst/>
          </a:prstGeom>
          <a:solidFill>
            <a:srgbClr val="1E315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90872" y="1005840"/>
            <a:ext cx="64008" cy="1783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1069848"/>
            <a:ext cx="4023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1088136"/>
            <a:ext cx="349300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Cleanup Always Runs on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1463040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E05555"/>
                </a:solidFill>
                <a:latin typeface="Consolas"/>
              </a:rPr>
              <a:t>Before  </a:t>
            </a:r>
            <a:r>
              <a:rPr sz="950" b="0">
                <a:solidFill>
                  <a:srgbClr val="C8D8F0"/>
                </a:solidFill>
                <a:latin typeface="Consolas"/>
              </a:rPr>
              <a:t>LOGFATAL exit  →  skip rm -rf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1709928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2ECC71"/>
                </a:solidFill>
                <a:latin typeface="Consolas"/>
              </a:rPr>
              <a:t>After   </a:t>
            </a:r>
            <a:r>
              <a:rPr sz="950" b="0">
                <a:solidFill>
                  <a:srgbClr val="C8D8F0"/>
                </a:solidFill>
                <a:latin typeface="Consolas"/>
              </a:rPr>
              <a:t>rm -rf runs first,  LOGFATAL after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18888" y="1993392"/>
            <a:ext cx="3877055" cy="0"/>
          </a:xfrm>
          <a:prstGeom prst="line">
            <a:avLst/>
          </a:prstGeom>
          <a:ln w="6350">
            <a:solidFill>
              <a:srgbClr val="1A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18888" y="2039112"/>
            <a:ext cx="391363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A9BBF"/>
                </a:solidFill>
                <a:latin typeface="Calibri"/>
              </a:rPr>
              <a:t>LOGFATAL called threads-&gt;exit(1) before the cleanup SSH fired, leaving /tmp/.install on the node — causing the next SSH auth to time out. Fix: save $installFailed, run cleanup unconditionally, then exit.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4133087" cy="1783080"/>
          </a:xfrm>
          <a:prstGeom prst="rect">
            <a:avLst/>
          </a:prstGeom>
          <a:solidFill>
            <a:srgbClr val="1E3158"/>
          </a:solidFill>
          <a:ln w="19050">
            <a:solidFill>
              <a:srgbClr val="4A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926080"/>
            <a:ext cx="64008" cy="1783080"/>
          </a:xfrm>
          <a:prstGeom prst="rect">
            <a:avLst/>
          </a:prstGeom>
          <a:solidFill>
            <a:srgbClr val="4A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2990088"/>
            <a:ext cx="4023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A9EE0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008376"/>
            <a:ext cx="349300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Ctrl+C Remote Cleanup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3383280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E05555"/>
                </a:solidFill>
                <a:latin typeface="Consolas"/>
              </a:rPr>
              <a:t>Before  </a:t>
            </a:r>
            <a:r>
              <a:rPr sz="950" b="0">
                <a:solidFill>
                  <a:srgbClr val="C8D8F0"/>
                </a:solidFill>
                <a:latin typeface="Consolas"/>
              </a:rPr>
              <a:t>signalHandler() — no-op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" y="3630168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2ECC71"/>
                </a:solidFill>
                <a:latin typeface="Consolas"/>
              </a:rPr>
              <a:t>After   </a:t>
            </a:r>
            <a:r>
              <a:rPr sz="950" b="0">
                <a:solidFill>
                  <a:srgbClr val="C8D8F0"/>
                </a:solidFill>
                <a:latin typeface="Consolas"/>
              </a:rPr>
              <a:t>SSH rm -rf /tmp/.install on each node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8056" y="3913632"/>
            <a:ext cx="3877056" cy="0"/>
          </a:xfrm>
          <a:prstGeom prst="line">
            <a:avLst/>
          </a:prstGeom>
          <a:ln w="6350">
            <a:solidFill>
              <a:srgbClr val="1A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8056" y="3959352"/>
            <a:ext cx="391363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A9BBF"/>
                </a:solidFill>
                <a:latin typeface="Calibri"/>
              </a:rPr>
              <a:t>Two :shared hashes (%gRemoteCleanupUid / Password) track in-flight nodes. The signal handler snapshots them under lock, then SSHes rm -rf before exit.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2926080"/>
            <a:ext cx="4133087" cy="1783080"/>
          </a:xfrm>
          <a:prstGeom prst="rect">
            <a:avLst/>
          </a:prstGeom>
          <a:solidFill>
            <a:srgbClr val="1E3158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90872" y="2926080"/>
            <a:ext cx="64008" cy="1783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8888" y="2990088"/>
            <a:ext cx="4023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A896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3008376"/>
            <a:ext cx="349300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Parallel Upgrade Dispatch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383280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E05555"/>
                </a:solidFill>
                <a:latin typeface="Consolas"/>
              </a:rPr>
              <a:t>Before  </a:t>
            </a:r>
            <a:r>
              <a:rPr sz="950" b="0">
                <a:solidFill>
                  <a:srgbClr val="C8D8F0"/>
                </a:solidFill>
                <a:latin typeface="Consolas"/>
              </a:rPr>
              <a:t>qw(install uninstall ... restart)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3630168"/>
            <a:ext cx="391363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2ECC71"/>
                </a:solidFill>
                <a:latin typeface="Consolas"/>
              </a:rPr>
              <a:t>After   </a:t>
            </a:r>
            <a:r>
              <a:rPr sz="950" b="0">
                <a:solidFill>
                  <a:srgbClr val="C8D8F0"/>
                </a:solidFill>
                <a:latin typeface="Consolas"/>
              </a:rPr>
              <a:t>qw(... restart  upgrade)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18888" y="3913632"/>
            <a:ext cx="3877055" cy="0"/>
          </a:xfrm>
          <a:prstGeom prst="line">
            <a:avLst/>
          </a:prstGeom>
          <a:ln w="6350">
            <a:solidFill>
              <a:srgbClr val="1A2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18888" y="3959352"/>
            <a:ext cx="391363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A9BBF"/>
                </a:solidFill>
                <a:latin typeface="Calibri"/>
              </a:rPr>
              <a:t>'upgrade' added to %gParallelCmds. %gPromptToInput is pre-loaded from .prompts before threads spawn; acceptAndRecv caches the first live answer so all concurrent nodes reuse it automatically.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988052"/>
            <a:ext cx="85953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MLCCN_Install_R12.4.1.26.pl  ·  2026-04-28  ·  Vijay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40-Node Upgrade: Sequential vs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A9BBF"/>
                </a:solidFill>
                <a:latin typeface="Calibri"/>
              </a:rPr>
              <a:t>15 OLGW  ·  10 PRGW  ·  10 LMF  ·  5 SGW  |  All 40 nodes upgraded successfully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877824"/>
            <a:ext cx="8412480" cy="0"/>
          </a:xfrm>
          <a:prstGeom prst="line">
            <a:avLst/>
          </a:prstGeom>
          <a:ln w="9525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987552"/>
            <a:ext cx="2834640" cy="1481328"/>
          </a:xfrm>
          <a:prstGeom prst="rect">
            <a:avLst/>
          </a:prstGeom>
          <a:solidFill>
            <a:srgbClr val="1A1028"/>
          </a:solidFill>
          <a:ln w="25400">
            <a:solidFill>
              <a:srgbClr val="E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2834640" cy="73152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05555"/>
                </a:solidFill>
                <a:latin typeface="Calibri"/>
              </a:rP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89888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Calibri"/>
              </a:rPr>
              <a:t>1h 18m 24s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4825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A9BBF"/>
                </a:solidFill>
                <a:latin typeface="Calibri"/>
              </a:rPr>
              <a:t>4,704 seconds  ·  one node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6771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A9BBF"/>
                </a:solidFill>
                <a:latin typeface="Calibri"/>
              </a:rPr>
              <a:t>avg 117s/node × 40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426464"/>
            <a:ext cx="67665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048256"/>
            <a:ext cx="603504" cy="31089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2048256"/>
            <a:ext cx="603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D1B3E"/>
                </a:solidFill>
                <a:latin typeface="Calibri"/>
              </a:rPr>
              <a:t>96.7%</a:t>
            </a:r>
          </a:p>
          <a:p>
            <a:pPr algn="ctr"/>
            <a:r>
              <a:rPr sz="800" b="1">
                <a:solidFill>
                  <a:srgbClr val="0D1B3E"/>
                </a:solidFill>
                <a:latin typeface="Calibri"/>
              </a:rPr>
              <a:t>faster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987552"/>
            <a:ext cx="2834640" cy="1481328"/>
          </a:xfrm>
          <a:prstGeom prst="rect">
            <a:avLst/>
          </a:prstGeom>
          <a:solidFill>
            <a:srgbClr val="0A2018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39" y="987552"/>
            <a:ext cx="283464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10789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A896"/>
                </a:solidFill>
                <a:latin typeface="Calibri"/>
              </a:rPr>
              <a:t>PARALLEL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389888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Calibri"/>
              </a:rPr>
              <a:t>2m 35s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04825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A9BBF"/>
                </a:solidFill>
                <a:latin typeface="Calibri"/>
              </a:rPr>
              <a:t>155 seconds  ·  all 40 nodes concurrently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26771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A9BBF"/>
                </a:solidFill>
                <a:latin typeface="Calibri"/>
              </a:rPr>
              <a:t>critical path: SGW_36 (slowest = 155s)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987552"/>
            <a:ext cx="1856231" cy="1481328"/>
          </a:xfrm>
          <a:prstGeom prst="rect">
            <a:avLst/>
          </a:prstGeom>
          <a:solidFill>
            <a:srgbClr val="1A1200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67728" y="987552"/>
            <a:ext cx="1856231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1078992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C518"/>
                </a:solidFill>
                <a:latin typeface="Calibri"/>
              </a:rPr>
              <a:t>TIME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1389888"/>
            <a:ext cx="1856231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1h 15m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49s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2066543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A9BBF"/>
                </a:solidFill>
                <a:latin typeface="Calibri"/>
              </a:rPr>
              <a:t>4,549 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267712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A9BBF"/>
                </a:solidFill>
                <a:latin typeface="Calibri"/>
              </a:rPr>
              <a:t>per upgrade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65176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Node Upgrade Duration by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889504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7A9BBF"/>
                </a:solidFill>
                <a:latin typeface="Calibri"/>
              </a:rPr>
              <a:t>bar = average  ·  shaded range = min–max  ·  yellow marker = critical path (155 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17296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A9BBF"/>
                </a:solidFill>
                <a:latin typeface="Consolas"/>
              </a:rPr>
              <a:t>OLGW ×15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3172968"/>
            <a:ext cx="4114800" cy="274320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23260" y="3172968"/>
            <a:ext cx="937259" cy="27432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17320" y="3172968"/>
            <a:ext cx="2217420" cy="274320"/>
          </a:xfrm>
          <a:prstGeom prst="rect">
            <a:avLst/>
          </a:prstGeom>
          <a:solidFill>
            <a:srgbClr val="4A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59" y="3182112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  <a:latin typeface="Calibri"/>
              </a:rPr>
              <a:t>avg 97s  (79–120s)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5661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A9BBF"/>
                </a:solidFill>
                <a:latin typeface="Consolas"/>
              </a:rPr>
              <a:t>PRGW ×10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3566160"/>
            <a:ext cx="4114800" cy="274320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60420" y="3566160"/>
            <a:ext cx="1143000" cy="27432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17320" y="3566160"/>
            <a:ext cx="2468879" cy="2743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59" y="35753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  <a:latin typeface="Calibri"/>
              </a:rPr>
              <a:t>avg 108s  (85–135s)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39593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A9BBF"/>
                </a:solidFill>
                <a:latin typeface="Consolas"/>
              </a:rPr>
              <a:t>LMF  ×10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20" y="3959352"/>
            <a:ext cx="4114800" cy="274320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0" y="3959352"/>
            <a:ext cx="1257300" cy="27432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17320" y="3959352"/>
            <a:ext cx="2697480" cy="2743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59" y="3968496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  <a:latin typeface="Calibri"/>
              </a:rPr>
              <a:t>avg 118s  (90–145s)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435254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A9BBF"/>
                </a:solidFill>
                <a:latin typeface="Consolas"/>
              </a:rPr>
              <a:t>SGW  ×5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" y="4352544"/>
            <a:ext cx="4114800" cy="274320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31920" y="4352544"/>
            <a:ext cx="1028700" cy="27432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17320" y="4352544"/>
            <a:ext cx="30403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23559" y="436168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8D8F0"/>
                </a:solidFill>
                <a:latin typeface="Calibri"/>
              </a:rPr>
              <a:t>avg 133s  (110–155s)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60620" y="3090672"/>
            <a:ext cx="25603" cy="1645919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7728" y="2633472"/>
            <a:ext cx="1856231" cy="2176272"/>
          </a:xfrm>
          <a:prstGeom prst="rect">
            <a:avLst/>
          </a:prstGeom>
          <a:solidFill>
            <a:srgbClr val="1E3158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67728" y="2651760"/>
            <a:ext cx="185623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A896"/>
                </a:solidFill>
                <a:latin typeface="Calibri"/>
              </a:rPr>
              <a:t>KEY STATS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40880" y="2907792"/>
            <a:ext cx="1709928" cy="0"/>
          </a:xfrm>
          <a:prstGeom prst="line">
            <a:avLst/>
          </a:prstGeom>
          <a:ln w="6350">
            <a:solidFill>
              <a:srgbClr val="00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40880" y="2962656"/>
            <a:ext cx="17099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9BBF"/>
                </a:solidFill>
                <a:latin typeface="Calibri"/>
              </a:rPr>
              <a:t>Nodes upgraded  </a:t>
            </a:r>
            <a:r>
              <a:rPr sz="850" b="1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3328416"/>
            <a:ext cx="17099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9BBF"/>
                </a:solidFill>
                <a:latin typeface="Calibri"/>
              </a:rPr>
              <a:t>Fastest node  </a:t>
            </a:r>
            <a:r>
              <a:rPr sz="850" b="1">
                <a:solidFill>
                  <a:srgbClr val="FFFFFF"/>
                </a:solidFill>
                <a:latin typeface="Calibri"/>
              </a:rPr>
              <a:t>79s  OLGW_04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3694176"/>
            <a:ext cx="17099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9BBF"/>
                </a:solidFill>
                <a:latin typeface="Calibri"/>
              </a:rPr>
              <a:t>Slowest node  </a:t>
            </a:r>
            <a:r>
              <a:rPr sz="850" b="1">
                <a:solidFill>
                  <a:srgbClr val="FFFFFF"/>
                </a:solidFill>
                <a:latin typeface="Calibri"/>
              </a:rPr>
              <a:t>155s  SGW_36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4059936"/>
            <a:ext cx="17099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9BBF"/>
                </a:solidFill>
                <a:latin typeface="Calibri"/>
              </a:rPr>
              <a:t>Average node  </a:t>
            </a:r>
            <a:r>
              <a:rPr sz="850" b="1">
                <a:solidFill>
                  <a:srgbClr val="FFFFFF"/>
                </a:solidFill>
                <a:latin typeface="Calibri"/>
              </a:rPr>
              <a:t>117s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4425696"/>
            <a:ext cx="17099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7A9BBF"/>
                </a:solidFill>
                <a:latin typeface="Calibri"/>
              </a:rPr>
              <a:t>SCP overhead  </a:t>
            </a:r>
            <a:r>
              <a:rPr sz="850" b="1">
                <a:solidFill>
                  <a:srgbClr val="FFFFFF"/>
                </a:solidFill>
                <a:latin typeface="Calibri"/>
              </a:rPr>
              <a:t>~15s / node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988052"/>
            <a:ext cx="85953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MLCCN_Install_R12.4.1.26.pl  ·  2026-04-28  ·  Vijay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